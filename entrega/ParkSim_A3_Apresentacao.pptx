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9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Centro Universitário UNA – Barreiro · Banco de Dados · Desafio A3 · Trilha Oracle Academy: 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39D98A"/>
                </a:solidFill>
              </a:defRPr>
            </a:pPr>
            <a:r>
              <a:t>ParkSim — Projeto de Banco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F7FAFF"/>
                </a:solidFill>
              </a:defRPr>
            </a:pPr>
            <a:r>
              <a:t>Estacionamento com simulador web, banco relacional em nuvem (PostgreSQL/Supabase)</a:t>
            </a:r>
            <a:br/>
            <a:r>
              <a:t>e dados persistidos por conta (Auth + Row Level Security)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520440"/>
            <a:ext cx="6766560" cy="2377440"/>
          </a:xfrm>
          <a:prstGeom prst="rect">
            <a:avLst/>
          </a:prstGeom>
          <a:solidFill>
            <a:srgbClr val="0A1426"/>
          </a:solidFill>
          <a:ln>
            <a:solidFill>
              <a:srgbClr val="2A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/>
          <a:lstStyle/>
          <a:p>
            <a:pPr algn="ctr">
              <a:defRPr sz="1700" b="1">
                <a:solidFill>
                  <a:srgbClr val="FBBF24"/>
                </a:solidFill>
              </a:defRPr>
            </a:pPr>
            <a:r>
              <a:t>GRUPO 5</a:t>
            </a:r>
          </a:p>
          <a:p>
            <a:pPr>
              <a:spcAft>
                <a:spcPts val="400"/>
              </a:spcAft>
              <a:defRPr sz="1500">
                <a:solidFill>
                  <a:srgbClr val="F7FAFF"/>
                </a:solidFill>
              </a:defRPr>
            </a:pPr>
            <a:r>
              <a:t>João Vitor Alves Rodrigues  —  RA: 32513480</a:t>
            </a:r>
          </a:p>
          <a:p>
            <a:pPr>
              <a:spcAft>
                <a:spcPts val="400"/>
              </a:spcAft>
              <a:defRPr sz="1500">
                <a:solidFill>
                  <a:srgbClr val="F7FAFF"/>
                </a:solidFill>
              </a:defRPr>
            </a:pPr>
            <a:r>
              <a:t>Rafael Luiz Ferreira de Souza  —  RA: 32511503</a:t>
            </a:r>
          </a:p>
          <a:p>
            <a:pPr>
              <a:spcAft>
                <a:spcPts val="400"/>
              </a:spcAft>
              <a:defRPr sz="1500">
                <a:solidFill>
                  <a:srgbClr val="F7FAFF"/>
                </a:solidFill>
              </a:defRPr>
            </a:pPr>
            <a:r>
              <a:t>Pietro Cardoso de Oliveira  —  RA: 32515280</a:t>
            </a:r>
          </a:p>
          <a:p>
            <a:pPr>
              <a:spcAft>
                <a:spcPts val="400"/>
              </a:spcAft>
              <a:defRPr sz="1500">
                <a:solidFill>
                  <a:srgbClr val="F7FAFF"/>
                </a:solidFill>
              </a:defRPr>
            </a:pPr>
            <a:r>
              <a:t>Gustavo Henrique Ramos  —  RA: 325141430</a:t>
            </a:r>
          </a:p>
          <a:p>
            <a:pPr>
              <a:spcAft>
                <a:spcPts val="400"/>
              </a:spcAft>
              <a:defRPr sz="1500">
                <a:solidFill>
                  <a:srgbClr val="F7FAFF"/>
                </a:solidFill>
              </a:defRPr>
            </a:pPr>
            <a:r>
              <a:t>Pedro Henrique Martins  —  RA: 325130235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3520440"/>
            <a:ext cx="3657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AAB8D5"/>
                </a:solidFill>
              </a:defRPr>
            </a:pPr>
            <a:r>
              <a:t>Professores: Alexandre e Silvia</a:t>
            </a:r>
          </a:p>
          <a:p>
            <a:pPr>
              <a:defRPr sz="1500">
                <a:solidFill>
                  <a:srgbClr val="AAB8D5"/>
                </a:solidFill>
              </a:defRPr>
            </a:pPr>
            <a:r>
              <a:t>Disciplina: Banco de Dados</a:t>
            </a:r>
          </a:p>
          <a:p>
            <a:pPr>
              <a:defRPr sz="1500">
                <a:solidFill>
                  <a:srgbClr val="AAB8D5"/>
                </a:solidFill>
              </a:defRPr>
            </a:pPr>
            <a:r>
              <a:t>Setembro / 2026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lebot007.github.io/a3controlecarros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AB8D5"/>
                </a:solidFill>
              </a:defRPr>
            </a:pPr>
            <a:r>
              <a:t>ParkSim · Grupo 5 · Projeto de Banco de Dados — UNA Barreiro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55664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B8D5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9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9D98A"/>
                </a:solidFill>
              </a:defRPr>
            </a:pPr>
            <a:r>
              <a:t>Estrutura da apresentação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270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7FAFF"/>
                </a:solidFill>
              </a:defRPr>
            </a:pPr>
            <a:r>
              <a:t>•  1. Levantamento de requisitos e regras de negócio</a:t>
            </a:r>
          </a:p>
          <a:p>
            <a:pPr>
              <a:spcAft>
                <a:spcPts val="1000"/>
              </a:spcAft>
              <a:defRPr sz="1700">
                <a:solidFill>
                  <a:srgbClr val="F7FAFF"/>
                </a:solidFill>
              </a:defRPr>
            </a:pPr>
            <a:r>
              <a:t>•  2. Modelagem conceitual — Diagrama Entidade-Relacionamento (DER)</a:t>
            </a:r>
          </a:p>
          <a:p>
            <a:pPr>
              <a:spcAft>
                <a:spcPts val="1000"/>
              </a:spcAft>
              <a:defRPr sz="1700">
                <a:solidFill>
                  <a:srgbClr val="F7FAFF"/>
                </a:solidFill>
              </a:defRPr>
            </a:pPr>
            <a:r>
              <a:t>•  3. Modelagem lógica e normalização (até 3FN) + integridade referencial</a:t>
            </a:r>
          </a:p>
          <a:p>
            <a:pPr>
              <a:spcAft>
                <a:spcPts val="1000"/>
              </a:spcAft>
              <a:defRPr sz="1700">
                <a:solidFill>
                  <a:srgbClr val="F7FAFF"/>
                </a:solidFill>
              </a:defRPr>
            </a:pPr>
            <a:r>
              <a:t>•  4. Modelagem física e linguagem SQL — DDL, DML e DQL executáveis</a:t>
            </a:r>
          </a:p>
          <a:p>
            <a:pPr>
              <a:spcAft>
                <a:spcPts val="1000"/>
              </a:spcAft>
              <a:defRPr sz="1700">
                <a:solidFill>
                  <a:srgbClr val="F7FAFF"/>
                </a:solidFill>
              </a:defRPr>
            </a:pPr>
            <a:r>
              <a:t>•  5. Aplicação web, demonstração e persistência dos dados por conta</a:t>
            </a:r>
          </a:p>
          <a:p>
            <a:pPr>
              <a:spcAft>
                <a:spcPts val="1000"/>
              </a:spcAft>
              <a:defRPr sz="1700">
                <a:solidFill>
                  <a:srgbClr val="F7FAFF"/>
                </a:solidFill>
              </a:defRPr>
            </a:pPr>
            <a:r>
              <a:t>•  6. Conclusão e conceitos de Banco de Dados aplicados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AB8D5"/>
                </a:solidFill>
              </a:defRPr>
            </a:pPr>
            <a:r>
              <a:t>ParkSim · Grupo 5 · Projeto de Banco de Dados — UNA Barreiro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B8D5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9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1 · Requisitos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9D98A"/>
                </a:solidFill>
              </a:defRPr>
            </a:pPr>
            <a:r>
              <a:t>Contexto da organização e problema identificado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270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7FAFF"/>
                </a:solidFill>
              </a:defRPr>
            </a:pPr>
            <a:r>
              <a:t>•  Organização: ParkSim — estacionamento fictício com 8 vagas físicas e 4 tipos de tarifa (Comum, Coberta, PCD e Idoso).</a:t>
            </a:r>
          </a:p>
          <a:p>
            <a:pPr>
              <a:spcAft>
                <a:spcPts val="1000"/>
              </a:spcAft>
              <a:defRPr sz="1700">
                <a:solidFill>
                  <a:srgbClr val="F7FAFF"/>
                </a:solidFill>
              </a:defRPr>
            </a:pPr>
            <a:r>
              <a:t>•  Problema: controle de entrada/saída em papel e planilhas isoladas → duplicidade de dados, dificuldade de acesso e inconsistências.</a:t>
            </a:r>
          </a:p>
          <a:p>
            <a:pPr>
              <a:spcAft>
                <a:spcPts val="1000"/>
              </a:spcAft>
              <a:defRPr sz="1700">
                <a:solidFill>
                  <a:srgbClr val="F7FAFF"/>
                </a:solidFill>
              </a:defRPr>
            </a:pPr>
            <a:r>
              <a:t>•  Solução: banco de dados relacional real (PostgreSQL via Supabase, em nuvem) integrado a uma aplicação web que simula e registra o pátio em tempo real.</a:t>
            </a:r>
          </a:p>
          <a:p>
            <a:pPr>
              <a:spcAft>
                <a:spcPts val="1000"/>
              </a:spcAft>
              <a:defRPr sz="1700">
                <a:solidFill>
                  <a:srgbClr val="F7FAFF"/>
                </a:solidFill>
              </a:defRPr>
            </a:pPr>
            <a:r>
              <a:t>•  Entregas: documento de projeto (modelagens + diagramas), script .sql executável (DDL + DML + DQL) e site publicado com painel administrativo.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AB8D5"/>
                </a:solidFill>
              </a:defRPr>
            </a:pPr>
            <a:r>
              <a:t>ParkSim · Grupo 5 · Projeto de Banco de Dados — UNA Barreiro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B8D5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9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1 · Requisitos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9D98A"/>
                </a:solidFill>
              </a:defRPr>
            </a:pPr>
            <a:r>
              <a:t>Atividades contempladas pelo projeto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270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7FAFF"/>
                </a:solidFill>
              </a:defRPr>
            </a:pPr>
            <a:r>
              <a:t>•  Registro de entrada de veículos com ocupação de vaga e atendente responsável;</a:t>
            </a:r>
          </a:p>
          <a:p>
            <a:pPr>
              <a:spcAft>
                <a:spcPts val="1000"/>
              </a:spcAft>
              <a:defRPr sz="1700">
                <a:solidFill>
                  <a:srgbClr val="F7FAFF"/>
                </a:solidFill>
              </a:defRPr>
            </a:pPr>
            <a:r>
              <a:t>•  Registro de saída com cálculo automático de tempo e valor cobrado (regra dentro do banco, via TRIGGER);</a:t>
            </a:r>
          </a:p>
          <a:p>
            <a:pPr>
              <a:spcAft>
                <a:spcPts val="1000"/>
              </a:spcAft>
              <a:defRPr sz="1700">
                <a:solidFill>
                  <a:srgbClr val="F7FAFF"/>
                </a:solidFill>
              </a:defRPr>
            </a:pPr>
            <a:r>
              <a:t>•  Cadastro de clientes e de seus veículos (1 cliente : N veículos);</a:t>
            </a:r>
          </a:p>
          <a:p>
            <a:pPr>
              <a:spcAft>
                <a:spcPts val="1000"/>
              </a:spcAft>
              <a:defRPr sz="1700">
                <a:solidFill>
                  <a:srgbClr val="F7FAFF"/>
                </a:solidFill>
              </a:defRPr>
            </a:pPr>
            <a:r>
              <a:t>•  Gestão das vagas físicas e das tarifas por hora de cada tipo de vaga;</a:t>
            </a:r>
          </a:p>
          <a:p>
            <a:pPr>
              <a:spcAft>
                <a:spcPts val="1000"/>
              </a:spcAft>
              <a:defRPr sz="1700">
                <a:solidFill>
                  <a:srgbClr val="F7FAFF"/>
                </a:solidFill>
              </a:defRPr>
            </a:pPr>
            <a:r>
              <a:t>•  Painel administrativo com relatório em tempo real (SELECT com JOINs) e exportação em PDF;</a:t>
            </a:r>
          </a:p>
          <a:p>
            <a:pPr>
              <a:spcAft>
                <a:spcPts val="1000"/>
              </a:spcAft>
              <a:defRPr sz="1700">
                <a:solidFill>
                  <a:srgbClr val="F7FAFF"/>
                </a:solidFill>
              </a:defRPr>
            </a:pPr>
            <a:r>
              <a:t>•  Controle de acesso: cada usuário autenticado vê e gerencia apenas os dados da sua conta (Auth + RLS).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AB8D5"/>
                </a:solidFill>
              </a:defRPr>
            </a:pPr>
            <a:r>
              <a:t>ParkSim · Grupo 5 · Projeto de Banco de Dados — UNA Barreiro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B8D5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9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1 · Requisitos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9D98A"/>
                </a:solidFill>
              </a:defRPr>
            </a:pPr>
            <a:r>
              <a:t>Informações que precisam ser armazenadas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270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7FAFF"/>
                </a:solidFill>
              </a:defRPr>
            </a:pPr>
            <a:r>
              <a:t>•  Clientes: nome, CPF, telefone e e-mail;</a:t>
            </a:r>
          </a:p>
          <a:p>
            <a:pPr>
              <a:spcAft>
                <a:spcPts val="1000"/>
              </a:spcAft>
              <a:defRPr sz="1700">
                <a:solidFill>
                  <a:srgbClr val="F7FAFF"/>
                </a:solidFill>
              </a:defRPr>
            </a:pPr>
            <a:r>
              <a:t>•  Veículos: placa, cor, modelo e o cliente proprietário;</a:t>
            </a:r>
          </a:p>
          <a:p>
            <a:pPr>
              <a:spcAft>
                <a:spcPts val="1000"/>
              </a:spcAft>
              <a:defRPr sz="1700">
                <a:solidFill>
                  <a:srgbClr val="F7FAFF"/>
                </a:solidFill>
              </a:defRPr>
            </a:pPr>
            <a:r>
              <a:t>•  Funcionários: nome, cargo e CPF (atendentes que registram os movimentos);</a:t>
            </a:r>
          </a:p>
          <a:p>
            <a:pPr>
              <a:spcAft>
                <a:spcPts val="1000"/>
              </a:spcAft>
              <a:defRPr sz="1700">
                <a:solidFill>
                  <a:srgbClr val="F7FAFF"/>
                </a:solidFill>
              </a:defRPr>
            </a:pPr>
            <a:r>
              <a:t>•  Tipos de vaga: descrição e valor da tarifa por hora;</a:t>
            </a:r>
          </a:p>
          <a:p>
            <a:pPr>
              <a:spcAft>
                <a:spcPts val="1000"/>
              </a:spcAft>
              <a:defRPr sz="1700">
                <a:solidFill>
                  <a:srgbClr val="F7FAFF"/>
                </a:solidFill>
              </a:defRPr>
            </a:pPr>
            <a:r>
              <a:t>•  Vagas: número, tipo da vaga e situação (ativa/inativa);</a:t>
            </a:r>
          </a:p>
          <a:p>
            <a:pPr>
              <a:spcAft>
                <a:spcPts val="1000"/>
              </a:spcAft>
              <a:defRPr sz="1700">
                <a:solidFill>
                  <a:srgbClr val="F7FAFF"/>
                </a:solidFill>
              </a:defRPr>
            </a:pPr>
            <a:r>
              <a:t>•  Movimentações: veículo, vaga, funcionário, hora de entrada, hora de saída, tempo em minutos, valor cobrado, status, sessão e conta (user_id).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AB8D5"/>
                </a:solidFill>
              </a:defRPr>
            </a:pPr>
            <a:r>
              <a:t>ParkSim · Grupo 5 · Projeto de Banco de Dados — UNA Barreiro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B8D5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9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1 · Requisitos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9D98A"/>
                </a:solidFill>
              </a:defRPr>
            </a:pPr>
            <a:r>
              <a:t>Necessidades de consulta e geração de relatórios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270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7FAFF"/>
                </a:solidFill>
              </a:defRPr>
            </a:pPr>
            <a:r>
              <a:t>•  Relatório completo das movimentações da conta, com JOIN entre as 6 tabelas (base do painel e do PDF);</a:t>
            </a:r>
          </a:p>
          <a:p>
            <a:pPr>
              <a:spcAft>
                <a:spcPts val="1000"/>
              </a:spcAft>
              <a:defRPr sz="1700">
                <a:solidFill>
                  <a:srgbClr val="F7FAFF"/>
                </a:solidFill>
              </a:defRPr>
            </a:pPr>
            <a:r>
              <a:t>•  Faturamento total por cliente no último mês — exemplo citado no enunciado do desafio;</a:t>
            </a:r>
          </a:p>
          <a:p>
            <a:pPr>
              <a:spcAft>
                <a:spcPts val="1000"/>
              </a:spcAft>
              <a:defRPr sz="1700">
                <a:solidFill>
                  <a:srgbClr val="F7FAFF"/>
                </a:solidFill>
              </a:defRPr>
            </a:pPr>
            <a:r>
              <a:t>•  Vaga mais utilizada (JOIN + COUNT + GROUP BY);</a:t>
            </a:r>
          </a:p>
          <a:p>
            <a:pPr>
              <a:spcAft>
                <a:spcPts val="1000"/>
              </a:spcAft>
              <a:defRPr sz="1700">
                <a:solidFill>
                  <a:srgbClr val="F7FAFF"/>
                </a:solidFill>
              </a:defRPr>
            </a:pPr>
            <a:r>
              <a:t>•  Tempo médio de permanência por tipo de vaga (AVG);</a:t>
            </a:r>
          </a:p>
          <a:p>
            <a:pPr>
              <a:spcAft>
                <a:spcPts val="1000"/>
              </a:spcAft>
              <a:defRPr sz="1700">
                <a:solidFill>
                  <a:srgbClr val="F7FAFF"/>
                </a:solidFill>
              </a:defRPr>
            </a:pPr>
            <a:r>
              <a:t>•  Funcionário que mais registrou movimentações (COUNT);</a:t>
            </a:r>
          </a:p>
          <a:p>
            <a:pPr>
              <a:spcAft>
                <a:spcPts val="1000"/>
              </a:spcAft>
              <a:defRPr sz="1700">
                <a:solidFill>
                  <a:srgbClr val="F7FAFF"/>
                </a:solidFill>
              </a:defRPr>
            </a:pPr>
            <a:r>
              <a:t>•  Veículos atualmente estacionados, com dados do cliente e da vaga.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AB8D5"/>
                </a:solidFill>
              </a:defRPr>
            </a:pPr>
            <a:r>
              <a:t>ParkSim · Grupo 5 · Projeto de Banco de Dados — UNA Barreiro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B8D5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9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1 · Requisitos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9D98A"/>
                </a:solidFill>
              </a:defRPr>
            </a:pPr>
            <a:r>
              <a:t>Regras de negócio que orientam o modelo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270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7FAFF"/>
                </a:solidFill>
              </a:defRPr>
            </a:pPr>
            <a:r>
              <a:t>•  RN01 — Um cliente pode possuir vários veículos; cada veículo pertence a um único cliente (1:N).</a:t>
            </a:r>
          </a:p>
          <a:p>
            <a:pPr>
              <a:spcAft>
                <a:spcPts val="1000"/>
              </a:spcAft>
              <a:defRPr sz="1700">
                <a:solidFill>
                  <a:srgbClr val="F7FAFF"/>
                </a:solidFill>
              </a:defRPr>
            </a:pPr>
            <a:r>
              <a:t>•  RN02 — Cada movimentação envolve exatamente 1 veículo, 1 vaga e 1 funcionário.</a:t>
            </a:r>
          </a:p>
          <a:p>
            <a:pPr>
              <a:spcAft>
                <a:spcPts val="1000"/>
              </a:spcAft>
              <a:defRPr sz="1700">
                <a:solidFill>
                  <a:srgbClr val="F7FAFF"/>
                </a:solidFill>
              </a:defRPr>
            </a:pPr>
            <a:r>
              <a:t>•  RN03 — Um veículo pode gerar várias movimentações ao longo do tempo (histórico).</a:t>
            </a:r>
          </a:p>
          <a:p>
            <a:pPr>
              <a:spcAft>
                <a:spcPts val="1000"/>
              </a:spcAft>
              <a:defRPr sz="1700">
                <a:solidFill>
                  <a:srgbClr val="F7FAFF"/>
                </a:solidFill>
              </a:defRPr>
            </a:pPr>
            <a:r>
              <a:t>•  RN04 — A tarifa por hora é do TIPO da vaga, não da vaga (evita redundância → 3FN).</a:t>
            </a:r>
          </a:p>
          <a:p>
            <a:pPr>
              <a:spcAft>
                <a:spcPts val="1000"/>
              </a:spcAft>
              <a:defRPr sz="1700">
                <a:solidFill>
                  <a:srgbClr val="F7FAFF"/>
                </a:solidFill>
              </a:defRPr>
            </a:pPr>
            <a:r>
              <a:t>•  RN05 — Na saída, o banco calcula tempo_minutos e valor_cobrado (TRIGGER trg_calcular_saida).</a:t>
            </a:r>
          </a:p>
          <a:p>
            <a:pPr>
              <a:spcAft>
                <a:spcPts val="1000"/>
              </a:spcAft>
              <a:defRPr sz="1700">
                <a:solidFill>
                  <a:srgbClr val="F7FAFF"/>
                </a:solidFill>
              </a:defRPr>
            </a:pPr>
            <a:r>
              <a:t>•  RN06 — Saída somente após a entrada (CHECK) e status limitado a ESTACIONADO ou SAIU.</a:t>
            </a:r>
          </a:p>
          <a:p>
            <a:pPr>
              <a:spcAft>
                <a:spcPts val="1000"/>
              </a:spcAft>
              <a:defRPr sz="1700">
                <a:solidFill>
                  <a:srgbClr val="F7FAFF"/>
                </a:solidFill>
              </a:defRPr>
            </a:pPr>
            <a:r>
              <a:t>•  RN07 — Vagas PCD e Idoso possuem tarifa social (valor_hora = 0,00).</a:t>
            </a:r>
          </a:p>
          <a:p>
            <a:pPr>
              <a:spcAft>
                <a:spcPts val="1000"/>
              </a:spcAft>
              <a:defRPr sz="1700">
                <a:solidFill>
                  <a:srgbClr val="F7FAFF"/>
                </a:solidFill>
              </a:defRPr>
            </a:pPr>
            <a:r>
              <a:t>•  RN08 — Toda movimentação pertence à conta logada (user_id); visitante não grava dados.</a:t>
            </a:r>
          </a:p>
          <a:p>
            <a:pPr>
              <a:spcAft>
                <a:spcPts val="1000"/>
              </a:spcAft>
              <a:defRPr sz="1700">
                <a:solidFill>
                  <a:srgbClr val="F7FAFF"/>
                </a:solidFill>
              </a:defRPr>
            </a:pPr>
            <a:r>
              <a:t>•  RN09 — Excluir um veículo exclui suas movimentações (CASCADE); vagas e funcionários são protegidos (RESTRICT).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AB8D5"/>
                </a:solidFill>
              </a:defRPr>
            </a:pPr>
            <a:r>
              <a:t>ParkSim · Grupo 5 · Projeto de Banco de Dados — UNA Barreiro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B8D5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9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2 · Modelagem conceitual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9D98A"/>
                </a:solidFill>
              </a:defRPr>
            </a:pPr>
            <a:r>
              <a:t>Diagrama Entidade-Relacionamento (DER)</a:t>
            </a:r>
          </a:p>
        </p:txBody>
      </p:sp>
      <p:pic>
        <p:nvPicPr>
          <p:cNvPr id="5" name="Picture 4" descr="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811" y="1325880"/>
            <a:ext cx="7048072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i="1">
                <a:solidFill>
                  <a:srgbClr val="AAB8D5"/>
                </a:solidFill>
              </a:defRPr>
            </a:pPr>
            <a:r>
              <a:t>Notação de Chen: 6 entidades, 5 relacionamentos 1:N, atributos com chaves primárias sublinhadas e user_id vinculando os dados à conta autenticada.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AB8D5"/>
                </a:solidFill>
              </a:defRPr>
            </a:pPr>
            <a:r>
              <a:t>ParkSim · Grupo 5 · Projeto de Banco de Dados — UNA Barreiro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B8D5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9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2 · Modelagem conceitual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9D98A"/>
                </a:solidFill>
              </a:defRPr>
            </a:pPr>
            <a:r>
              <a:t>Entidades, chaves e cardinalidades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63040"/>
          <a:ext cx="1118311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1188720"/>
                <a:gridCol w="6062472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052012"/>
                          </a:solidFill>
                        </a:defRPr>
                      </a:pPr>
                      <a:r>
                        <a:t>Relacionamento</a:t>
                      </a:r>
                    </a:p>
                  </a:txBody>
                  <a:tcPr>
                    <a:solidFill>
                      <a:srgbClr val="39D9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052012"/>
                          </a:solidFill>
                        </a:defRPr>
                      </a:pPr>
                      <a:r>
                        <a:t>Card.</a:t>
                      </a:r>
                    </a:p>
                  </a:txBody>
                  <a:tcPr>
                    <a:solidFill>
                      <a:srgbClr val="39D9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052012"/>
                          </a:solidFill>
                        </a:defRPr>
                      </a:pPr>
                      <a:r>
                        <a:t>Regra de negócio representada</a:t>
                      </a:r>
                    </a:p>
                  </a:txBody>
                  <a:tcPr>
                    <a:solidFill>
                      <a:srgbClr val="39D98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F7FAFF"/>
                          </a:solidFill>
                        </a:defRPr>
                      </a:pPr>
                      <a:r>
                        <a:t>CLIENTE — POSSUI — VEICULO</a:t>
                      </a:r>
                    </a:p>
                  </a:txBody>
                  <a:tcPr>
                    <a:solidFill>
                      <a:srgbClr val="0A14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F7FAFF"/>
                          </a:solidFill>
                        </a:defRPr>
                      </a:pPr>
                      <a:r>
                        <a:t>1:N</a:t>
                      </a:r>
                    </a:p>
                  </a:txBody>
                  <a:tcPr>
                    <a:solidFill>
                      <a:srgbClr val="0A14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F7FAFF"/>
                          </a:solidFill>
                        </a:defRPr>
                      </a:pPr>
                      <a:r>
                        <a:t>Um cliente possui vários veículos; cada veículo, um dono.</a:t>
                      </a:r>
                    </a:p>
                  </a:txBody>
                  <a:tcPr>
                    <a:solidFill>
                      <a:srgbClr val="0A14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F7FAFF"/>
                          </a:solidFill>
                        </a:defRPr>
                      </a:pPr>
                      <a:r>
                        <a:t>VEICULO — GERA — MOVIMENTACAO</a:t>
                      </a:r>
                    </a:p>
                  </a:txBody>
                  <a:tcPr>
                    <a:solidFill>
                      <a:srgbClr val="0D18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F7FAFF"/>
                          </a:solidFill>
                        </a:defRPr>
                      </a:pPr>
                      <a:r>
                        <a:t>1:N</a:t>
                      </a:r>
                    </a:p>
                  </a:txBody>
                  <a:tcPr>
                    <a:solidFill>
                      <a:srgbClr val="0D18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F7FAFF"/>
                          </a:solidFill>
                        </a:defRPr>
                      </a:pPr>
                      <a:r>
                        <a:t>Um veículo gera várias movimentações (histórico de entradas).</a:t>
                      </a:r>
                    </a:p>
                  </a:txBody>
                  <a:tcPr>
                    <a:solidFill>
                      <a:srgbClr val="0D18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F7FAFF"/>
                          </a:solidFill>
                        </a:defRPr>
                      </a:pPr>
                      <a:r>
                        <a:t>VAGA — OCUPA — MOVIMENTACAO</a:t>
                      </a:r>
                    </a:p>
                  </a:txBody>
                  <a:tcPr>
                    <a:solidFill>
                      <a:srgbClr val="0A14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F7FAFF"/>
                          </a:solidFill>
                        </a:defRPr>
                      </a:pPr>
                      <a:r>
                        <a:t>1:N</a:t>
                      </a:r>
                    </a:p>
                  </a:txBody>
                  <a:tcPr>
                    <a:solidFill>
                      <a:srgbClr val="0A14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F7FAFF"/>
                          </a:solidFill>
                        </a:defRPr>
                      </a:pPr>
                      <a:r>
                        <a:t>Uma vaga é ocupada em várias movimentações (uma por vez).</a:t>
                      </a:r>
                    </a:p>
                  </a:txBody>
                  <a:tcPr>
                    <a:solidFill>
                      <a:srgbClr val="0A14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F7FAFF"/>
                          </a:solidFill>
                        </a:defRPr>
                      </a:pPr>
                      <a:r>
                        <a:t>FUNCIONARIO — REGISTRA — MOVIMENTACAO</a:t>
                      </a:r>
                    </a:p>
                  </a:txBody>
                  <a:tcPr>
                    <a:solidFill>
                      <a:srgbClr val="0D18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F7FAFF"/>
                          </a:solidFill>
                        </a:defRPr>
                      </a:pPr>
                      <a:r>
                        <a:t>1:N</a:t>
                      </a:r>
                    </a:p>
                  </a:txBody>
                  <a:tcPr>
                    <a:solidFill>
                      <a:srgbClr val="0D18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F7FAFF"/>
                          </a:solidFill>
                        </a:defRPr>
                      </a:pPr>
                      <a:r>
                        <a:t>Um atendente registra várias movimentações.</a:t>
                      </a:r>
                    </a:p>
                  </a:txBody>
                  <a:tcPr>
                    <a:solidFill>
                      <a:srgbClr val="0D18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F7FAFF"/>
                          </a:solidFill>
                        </a:defRPr>
                      </a:pPr>
                      <a:r>
                        <a:t>TIPO_VAGA — CLASSIFICA — VAGA</a:t>
                      </a:r>
                    </a:p>
                  </a:txBody>
                  <a:tcPr>
                    <a:solidFill>
                      <a:srgbClr val="0A14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F7FAFF"/>
                          </a:solidFill>
                        </a:defRPr>
                      </a:pPr>
                      <a:r>
                        <a:t>1:N</a:t>
                      </a:r>
                    </a:p>
                  </a:txBody>
                  <a:tcPr>
                    <a:solidFill>
                      <a:srgbClr val="0A14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F7FAFF"/>
                          </a:solidFill>
                        </a:defRPr>
                      </a:pPr>
                      <a:r>
                        <a:t>Um tipo (tarifa) classifica várias vagas físicas.</a:t>
                      </a:r>
                    </a:p>
                  </a:txBody>
                  <a:tcPr>
                    <a:solidFill>
                      <a:srgbClr val="0A142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8064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AAB8D5"/>
                </a:solidFill>
              </a:defRPr>
            </a:pPr>
            <a:r>
              <a:t>No lado da MOVIMENTACAO a participação é total e unitária (1,1): cada movimento usa exatamente uma vaga, um veículo e um atendente.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AB8D5"/>
                </a:solidFill>
              </a:defRPr>
            </a:pPr>
            <a:r>
              <a:t>ParkSim · Grupo 5 · Projeto de Banco de Dados — UNA Barreiro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B8D5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9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3 · Modelagem lógica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9D98A"/>
                </a:solidFill>
              </a:defRPr>
            </a:pPr>
            <a:r>
              <a:t>Esquema relacional com chaves primárias e estrangeiras</a:t>
            </a:r>
          </a:p>
        </p:txBody>
      </p:sp>
      <p:pic>
        <p:nvPicPr>
          <p:cNvPr id="5" name="Picture 4" descr="logi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047" y="1325880"/>
            <a:ext cx="7467600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i="1">
                <a:solidFill>
                  <a:srgbClr val="AAB8D5"/>
                </a:solidFill>
              </a:defRPr>
            </a:pPr>
            <a:r>
              <a:t>Modelo lógico relacional: atributos atômicos, PK em todas as tabelas e FKs garantindo a integridade referencial (tracejado = vínculo com a conta em auth.users).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AB8D5"/>
                </a:solidFill>
              </a:defRPr>
            </a:pPr>
            <a:r>
              <a:t>ParkSim · Grupo 5 · Projeto de Banco de Dados — UNA Barreiro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B8D5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9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3 · Modelagem lógica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9D98A"/>
                </a:solidFill>
              </a:defRPr>
            </a:pPr>
            <a:r>
              <a:t>Notação relacional do modelo lógico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1183112" cy="3200400"/>
          </a:xfrm>
          <a:prstGeom prst="rect">
            <a:avLst/>
          </a:prstGeom>
          <a:solidFill>
            <a:srgbClr val="0A1426"/>
          </a:solidFill>
          <a:ln w="12700">
            <a:solidFill>
              <a:srgbClr val="2A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CLIENTE      ( id , nome, cpf, telefone, email )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VEICULO      ( id , placa, cor, modelo, cliente_id -&gt; CLIENTE, user_id -&gt; auth.users )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FUNCIONARIO  ( id , nome, cargo, cpf )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TIPO_VAGA    ( id , descricao, valor_hora )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VAGA         ( id , numero, ativa, tipo_vaga_id -&gt; TIPO_VAGA )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MOVIMENTACAO ( id , veiculo_id -&gt; VEICULO, vaga_id -&gt; VAGA,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               funcionario_id -&gt; FUNCIONARIO, sessao, user_id -&gt; auth.users,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               hora_entrada, hora_saida, tempo_minutos, valor_cobrado, status )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 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id = chave primaria (sublinhado)   |   -&gt; = chave estrangeira (FK)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AB8D5"/>
                </a:solidFill>
              </a:defRPr>
            </a:pPr>
            <a:r>
              <a:t>ParkSim · Grupo 5 · Projeto de Banco de Dados — UNA Barreiro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B8D5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9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3 · Normalização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9D98A"/>
                </a:solidFill>
              </a:defRPr>
            </a:pPr>
            <a:r>
              <a:t>Normalização aplicada (até a 3FN)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270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7FAFF"/>
                </a:solidFill>
              </a:defRPr>
            </a:pPr>
            <a:r>
              <a:t>•  1FN — atributos atômicos e PK em todas as tabelas; sem grupos repetidos (um veículo com várias entradas = várias linhas de MOVIMENTACAO, nunca listas dentro de uma célula).</a:t>
            </a:r>
          </a:p>
          <a:p>
            <a:pPr>
              <a:spcAft>
                <a:spcPts val="1000"/>
              </a:spcAft>
              <a:defRPr sz="1700">
                <a:solidFill>
                  <a:srgbClr val="F7FAFF"/>
                </a:solidFill>
              </a:defRPr>
            </a:pPr>
            <a:r>
              <a:t>•  2FN — todas as tabelas têm PK simples (serial/bigserial); logo, não existe dependência parcial de chave composta.</a:t>
            </a:r>
          </a:p>
          <a:p>
            <a:pPr>
              <a:spcAft>
                <a:spcPts val="1000"/>
              </a:spcAft>
              <a:defRPr sz="1700">
                <a:solidFill>
                  <a:srgbClr val="F7FAFF"/>
                </a:solidFill>
              </a:defRPr>
            </a:pPr>
            <a:r>
              <a:t>•  3FN — nenhuma dependência transitiva: a tarifa depende apenas do TIPO_VAGA (vaga só guarda tipo_vaga_id); placa/cliente/vaga/atendente não se repetem em MOVIMENTACAO — entram por FK.</a:t>
            </a:r>
          </a:p>
          <a:p>
            <a:pPr>
              <a:spcAft>
                <a:spcPts val="1000"/>
              </a:spcAft>
              <a:defRPr sz="1700">
                <a:solidFill>
                  <a:srgbClr val="F7FAFF"/>
                </a:solidFill>
              </a:defRPr>
            </a:pPr>
            <a:r>
              <a:t>•  Anomalias eliminadas: alteração de tarifa em um único lugar (TIPO_VAGA); inclusão de vaga sem movimentação; exclusão de movimentação não apaga cliente, vaga ou funcionário.</a:t>
            </a:r>
          </a:p>
          <a:p>
            <a:pPr>
              <a:spcAft>
                <a:spcPts val="1000"/>
              </a:spcAft>
              <a:defRPr sz="1700">
                <a:solidFill>
                  <a:srgbClr val="F7FAFF"/>
                </a:solidFill>
              </a:defRPr>
            </a:pPr>
            <a:r>
              <a:t>•  tempo_minutos e valor_cobrado são derivados, mas armazenados como histórico auditável, calculados pelo banco (TRIGGER) — nunca digitados.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AB8D5"/>
                </a:solidFill>
              </a:defRPr>
            </a:pPr>
            <a:r>
              <a:t>ParkSim · Grupo 5 · Projeto de Banco de Dados — UNA Barreiro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B8D5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9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3 · Integridade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9D98A"/>
                </a:solidFill>
              </a:defRPr>
            </a:pPr>
            <a:r>
              <a:t>Integridade referencial (chaves estrangeiras)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63040"/>
          <a:ext cx="11183112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1188720"/>
                <a:gridCol w="6062472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052012"/>
                          </a:solidFill>
                        </a:defRPr>
                      </a:pPr>
                      <a:r>
                        <a:t>FK (tabela.origem)</a:t>
                      </a:r>
                    </a:p>
                  </a:txBody>
                  <a:tcPr>
                    <a:solidFill>
                      <a:srgbClr val="39D9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052012"/>
                          </a:solidFill>
                        </a:defRPr>
                      </a:pPr>
                      <a:r>
                        <a:t>Referencia</a:t>
                      </a:r>
                    </a:p>
                  </a:txBody>
                  <a:tcPr>
                    <a:solidFill>
                      <a:srgbClr val="39D9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052012"/>
                          </a:solidFill>
                        </a:defRPr>
                      </a:pPr>
                      <a:r>
                        <a:t>Ação ON DELETE</a:t>
                      </a:r>
                    </a:p>
                  </a:txBody>
                  <a:tcPr>
                    <a:solidFill>
                      <a:srgbClr val="39D98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F7FAFF"/>
                          </a:solidFill>
                        </a:defRPr>
                      </a:pPr>
                      <a:r>
                        <a:t>veiculo.cliente_id</a:t>
                      </a:r>
                    </a:p>
                  </a:txBody>
                  <a:tcPr>
                    <a:solidFill>
                      <a:srgbClr val="0A14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F7FAFF"/>
                          </a:solidFill>
                        </a:defRPr>
                      </a:pPr>
                      <a:r>
                        <a:t>cliente.id</a:t>
                      </a:r>
                    </a:p>
                  </a:txBody>
                  <a:tcPr>
                    <a:solidFill>
                      <a:srgbClr val="0A14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F7FAF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0A14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F7FAFF"/>
                          </a:solidFill>
                        </a:defRPr>
                      </a:pPr>
                      <a:r>
                        <a:t>vaga.tipo_vaga_id</a:t>
                      </a:r>
                    </a:p>
                  </a:txBody>
                  <a:tcPr>
                    <a:solidFill>
                      <a:srgbClr val="0D18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F7FAFF"/>
                          </a:solidFill>
                        </a:defRPr>
                      </a:pPr>
                      <a:r>
                        <a:t>tipo_vaga.id</a:t>
                      </a:r>
                    </a:p>
                  </a:txBody>
                  <a:tcPr>
                    <a:solidFill>
                      <a:srgbClr val="0D18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F7FAF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0D18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F7FAFF"/>
                          </a:solidFill>
                        </a:defRPr>
                      </a:pPr>
                      <a:r>
                        <a:t>movimentacao.veiculo_id</a:t>
                      </a:r>
                    </a:p>
                  </a:txBody>
                  <a:tcPr>
                    <a:solidFill>
                      <a:srgbClr val="0A14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F7FAFF"/>
                          </a:solidFill>
                        </a:defRPr>
                      </a:pPr>
                      <a:r>
                        <a:t>veiculo.id</a:t>
                      </a:r>
                    </a:p>
                  </a:txBody>
                  <a:tcPr>
                    <a:solidFill>
                      <a:srgbClr val="0A14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F7FAFF"/>
                          </a:solidFill>
                        </a:defRPr>
                      </a:pPr>
                      <a:r>
                        <a:t>CASCADE</a:t>
                      </a:r>
                    </a:p>
                  </a:txBody>
                  <a:tcPr>
                    <a:solidFill>
                      <a:srgbClr val="0A14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F7FAFF"/>
                          </a:solidFill>
                        </a:defRPr>
                      </a:pPr>
                      <a:r>
                        <a:t>movimentacao.vaga_id</a:t>
                      </a:r>
                    </a:p>
                  </a:txBody>
                  <a:tcPr>
                    <a:solidFill>
                      <a:srgbClr val="0D18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F7FAFF"/>
                          </a:solidFill>
                        </a:defRPr>
                      </a:pPr>
                      <a:r>
                        <a:t>vaga.id</a:t>
                      </a:r>
                    </a:p>
                  </a:txBody>
                  <a:tcPr>
                    <a:solidFill>
                      <a:srgbClr val="0D18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F7FAFF"/>
                          </a:solidFill>
                        </a:defRPr>
                      </a:pPr>
                      <a:r>
                        <a:t>RESTRICT</a:t>
                      </a:r>
                    </a:p>
                  </a:txBody>
                  <a:tcPr>
                    <a:solidFill>
                      <a:srgbClr val="0D18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F7FAFF"/>
                          </a:solidFill>
                        </a:defRPr>
                      </a:pPr>
                      <a:r>
                        <a:t>movimentacao.funcionario_id</a:t>
                      </a:r>
                    </a:p>
                  </a:txBody>
                  <a:tcPr>
                    <a:solidFill>
                      <a:srgbClr val="0A14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F7FAFF"/>
                          </a:solidFill>
                        </a:defRPr>
                      </a:pPr>
                      <a:r>
                        <a:t>funcionario.id</a:t>
                      </a:r>
                    </a:p>
                  </a:txBody>
                  <a:tcPr>
                    <a:solidFill>
                      <a:srgbClr val="0A14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F7FAFF"/>
                          </a:solidFill>
                        </a:defRPr>
                      </a:pPr>
                      <a:r>
                        <a:t>RESTRICT</a:t>
                      </a:r>
                    </a:p>
                  </a:txBody>
                  <a:tcPr>
                    <a:solidFill>
                      <a:srgbClr val="0A14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F7FAFF"/>
                          </a:solidFill>
                        </a:defRPr>
                      </a:pPr>
                      <a:r>
                        <a:t>veiculo.user_id / movimentacao.user_id</a:t>
                      </a:r>
                    </a:p>
                  </a:txBody>
                  <a:tcPr>
                    <a:solidFill>
                      <a:srgbClr val="0D18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F7FAFF"/>
                          </a:solidFill>
                        </a:defRPr>
                      </a:pPr>
                      <a:r>
                        <a:t>auth.users.id</a:t>
                      </a:r>
                    </a:p>
                  </a:txBody>
                  <a:tcPr>
                    <a:solidFill>
                      <a:srgbClr val="0D18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F7FAFF"/>
                          </a:solidFill>
                        </a:defRPr>
                      </a:pPr>
                      <a:r>
                        <a:t>CASCADE</a:t>
                      </a:r>
                    </a:p>
                  </a:txBody>
                  <a:tcPr>
                    <a:solidFill>
                      <a:srgbClr val="0D183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8064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AAB8D5"/>
                </a:solidFill>
              </a:defRPr>
            </a:pPr>
            <a:r>
              <a:t>CHECKs complementares: hora_saida &gt;= hora_entrada · status IN ('ESTACIONADO','SAIU') · valor_hora &gt;= 0 · UNIQUE em placa, cpf e numero da vaga.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AB8D5"/>
                </a:solidFill>
              </a:defRPr>
            </a:pPr>
            <a:r>
              <a:t>ParkSim · Grupo 5 · Projeto de Banco de Dados — UNA Barreiro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B8D5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9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4 · Modelagem física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9D98A"/>
                </a:solidFill>
              </a:defRPr>
            </a:pPr>
            <a:r>
              <a:t>DDL — CREATE TABLE, TRIGGER, índices e RLS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1183112" cy="5120640"/>
          </a:xfrm>
          <a:prstGeom prst="rect">
            <a:avLst/>
          </a:prstGeom>
          <a:solidFill>
            <a:srgbClr val="0A1426"/>
          </a:solidFill>
          <a:ln w="12700">
            <a:solidFill>
              <a:srgbClr val="2A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CREATE TABLE movimentacao (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    id             bigserial PRIMARY KEY,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    veiculo_id     integer NOT NULL REFERENCES veiculo(id)     ON DELETE CASCADE,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    vaga_id        integer NOT NULL REFERENCES vaga(id)        ON DELETE RESTRICT,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    funcionario_id integer NOT NULL REFERENCES funcionario(id) ON DELETE RESTRICT,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    sessao         integer NOT NULL DEFAULT 1,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    user_id        uuid REFERENCES auth.users(id) ON DELETE CASCADE,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    hora_entrada   timestamptz NOT NULL DEFAULT now(),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    hora_saida     timestamptz,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    tempo_minutos  integer,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    valor_cobrado  numeric(8,2),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    status         varchar(15) NOT NULL DEFAULT 'ESTACIONADO'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                   CHECK (status IN ('ESTACIONADO','SAIU')),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    CONSTRAINT chk_saida_apos_entrada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        CHECK (hora_saida IS NULL OR hora_saida &gt;= hora_entrada)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);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 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CREATE OR REPLACE FUNCTION fn_calcular_saida() RETURNS trigger AS $$ ... $$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LANGUAGE plpgsql;   -- calcula tempo_minutos e valor_cobrado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 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CREATE TRIGGER trg_calcular_saida BEFORE INSERT OR UPDATE ON movimentacao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    FOR EACH ROW EXECUTE FUNCTION fn_calcular_saida();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 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CREATE POLICY leitura_restrita_movimentacao ON movimentacao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    FOR SELECT USING (auth.uid() IS NOT NULL AND user_id = auth.uid());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 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-- Migracao fisica (ALTER TABLE): vincula os dados a conta, sem quebrar nada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ALTER TABLE movimentacao ADD COLUMN IF NOT EXISTS user_id uuid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    REFERENCES auth.users(id) ON DELETE CASCADE;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AB8D5"/>
                </a:solidFill>
              </a:defRPr>
            </a:pPr>
            <a:r>
              <a:t>ParkSim · Grupo 5 · Projeto de Banco de Dados — UNA Barreiro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B8D5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9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4 · Modelagem física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9D98A"/>
                </a:solidFill>
              </a:defRPr>
            </a:pPr>
            <a:r>
              <a:t>DML — INSERT, UPDATE e DELETE (carga e operações)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1183112" cy="5120640"/>
          </a:xfrm>
          <a:prstGeom prst="rect">
            <a:avLst/>
          </a:prstGeom>
          <a:solidFill>
            <a:srgbClr val="0A1426"/>
          </a:solidFill>
          <a:ln w="12700">
            <a:solidFill>
              <a:srgbClr val="2A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-- Carga inicial (homologacao) - INSERT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INSERT INTO tipo_vaga (descricao, valor_hora) VALUES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    ('Comum', 6.00), ('Coberta', 9.00), ('PCD', 0.00), ('Idoso', 0.00);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INSERT INTO vaga (numero, tipo_vaga_id) VALUES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    (1, (SELECT id FROM tipo_vaga WHERE descricao = 'Comum')),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    (4, (SELECT id FROM tipo_vaga WHERE descricao = 'Coberta'));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INSERT INTO cliente (nome, cpf, telefone, email) VALUES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    ('Ana Beatriz Souza', '11111111111', '(31) 90000-0001', 'ana.souza@exemplo.com');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INSERT INTO movimentacao (veiculo_id, vaga_id, funcionario_id, sessao, user_id, status)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VALUES (&lt;id&gt;, &lt;id&gt;, &lt;id&gt;, 1, auth.uid(), 'ESTACIONADO');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 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-- UPDATE: saida do veiculo (a TRIGGER calcula tempo e valor no banco)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UPDATE movimentacao SET hora_saida = now(), status = 'SAIU'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 WHERE veiculo_id = (SELECT id FROM veiculo WHERE placa = 'ABC1D23')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   AND hora_saida IS NULL;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 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-- DELETE: limpeza dos dados da propria conta (executado pelo botao Reiniciar)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DELETE FROM veiculo WHERE user_id = auth.uid();   -- CASCADE limpa movimentacao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AB8D5"/>
                </a:solidFill>
              </a:defRPr>
            </a:pPr>
            <a:r>
              <a:t>ParkSim · Grupo 5 · Projeto de Banco de Dados — UNA Barreiro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B8D5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9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4 · Modelagem física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9D98A"/>
                </a:solidFill>
              </a:defRPr>
            </a:pPr>
            <a:r>
              <a:t>DQL — relatório com JOIN entre as 6 tabelas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1183112" cy="3749039"/>
          </a:xfrm>
          <a:prstGeom prst="rect">
            <a:avLst/>
          </a:prstGeom>
          <a:solidFill>
            <a:srgbClr val="0A1426"/>
          </a:solidFill>
          <a:ln w="12700">
            <a:solidFill>
              <a:srgbClr val="2A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-- Relatorio completo: JOIN entre as 6 tabelas (painel administrativo)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SELECT m.id, v.placa, v.cor, c.nome AS cliente, vg.numero AS vaga,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       tv.descricao AS tipo_vaga, f.nome AS atendente,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       m.hora_entrada, m.hora_saida, m.tempo_minutos, m.valor_cobrado, m.status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  FROM movimentacao m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  JOIN veiculo      v  ON v.id  = m.veiculo_id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  JOIN cliente      c  ON c.id  = v.cliente_id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  JOIN vaga         vg ON vg.id = m.vaga_id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  JOIN tipo_vaga    tv ON tv.id = vg.tipo_vaga_id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  JOIN funcionario  f  ON f.id  = m.funcionario_id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 WHERE m.user_id = auth.uid()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 ORDER BY m.hora_entrada DESC;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AB8D5"/>
                </a:solidFill>
              </a:defRPr>
            </a:pPr>
            <a:r>
              <a:t>ParkSim · Grupo 5 · Projeto de Banco de Dados — UNA Barreiro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B8D5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9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4 · Modelagem física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9D98A"/>
                </a:solidFill>
              </a:defRPr>
            </a:pPr>
            <a:r>
              <a:t>DQL — consultas estratégicas com agregações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1183112" cy="3200400"/>
          </a:xfrm>
          <a:prstGeom prst="rect">
            <a:avLst/>
          </a:prstGeom>
          <a:solidFill>
            <a:srgbClr val="0A1426"/>
          </a:solidFill>
          <a:ln w="12700">
            <a:solidFill>
              <a:srgbClr val="2A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-- Faturamento por cliente no ultimo mes (exemplo do enunciado)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SELECT c.nome AS cliente, COUNT(m.id) AS total_movimentacoes,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       COALESCE(SUM(m.valor_cobrado), 0) AS faturamento_total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  FROM cliente c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  JOIN veiculo      v ON v.cliente_id = c.id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  JOIN movimentacao m ON m.veiculo_id = v.id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 WHERE m.hora_saida &gt;= now() - INTERVAL '1 month'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 GROUP BY c.nome ORDER BY faturamento_total DESC;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-- Tambem: vaga mais utilizada (COUNT/GROUP BY), tempo medio por tipo (AVG),</a:t>
            </a:r>
          </a:p>
          <a:p>
            <a:pPr>
              <a:spcAft>
                <a:spcPts val="100"/>
              </a:spcAft>
              <a:defRPr sz="1250">
                <a:solidFill>
                  <a:srgbClr val="DFE8FF"/>
                </a:solidFill>
                <a:latin typeface="Consolas"/>
              </a:defRPr>
            </a:pPr>
            <a:r>
              <a:t>-- funcionario que mais atendeu (COUNT) e veiculos estacionados agora.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AB8D5"/>
                </a:solidFill>
              </a:defRPr>
            </a:pPr>
            <a:r>
              <a:t>ParkSim · Grupo 5 · Projeto de Banco de Dados — UNA Barreiro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B8D5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9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5 · Aplicação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9D98A"/>
                </a:solidFill>
              </a:defRPr>
            </a:pPr>
            <a:r>
              <a:t>Aplicação web e demonstração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270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7FAFF"/>
                </a:solidFill>
              </a:defRPr>
            </a:pPr>
            <a:r>
              <a:t>•  Site publicado: https://lebot007.github.io/a3controlecarros/  ·  acesso admin de teste: admin@parksim.com / admin123.</a:t>
            </a:r>
          </a:p>
          <a:p>
            <a:pPr>
              <a:spcAft>
                <a:spcPts val="1000"/>
              </a:spcAft>
              <a:defRPr sz="1700">
                <a:solidFill>
                  <a:srgbClr val="F7FAFF"/>
                </a:solidFill>
              </a:defRPr>
            </a:pPr>
            <a:r>
              <a:t>•  Fluxo: login (Supabase Auth) → simulação de entrada/saída → INSERT em veiculo e movimentacao → UPDATE de saída dispara a TRIGGER de cálculo → painel com SELECT JOIN em tempo real → exportação em PDF.</a:t>
            </a:r>
          </a:p>
          <a:p>
            <a:pPr>
              <a:spcAft>
                <a:spcPts val="1000"/>
              </a:spcAft>
              <a:defRPr sz="1700">
                <a:solidFill>
                  <a:srgbClr val="F7FAFF"/>
                </a:solidFill>
              </a:defRPr>
            </a:pPr>
            <a:r>
              <a:t>•  Os registros podem ser inspecionados ao vivo no Table Editor do Supabase durante a demonstração.</a:t>
            </a:r>
          </a:p>
          <a:p>
            <a:pPr>
              <a:spcAft>
                <a:spcPts val="1000"/>
              </a:spcAft>
              <a:defRPr sz="1700">
                <a:solidFill>
                  <a:srgbClr val="F7FAFF"/>
                </a:solidFill>
              </a:defRPr>
            </a:pPr>
            <a:r>
              <a:t>•  Persistência por conta: ao sair e entrar novamente na conta (ou recarregar a página), o relatório é restaurado — cada linha carrega o user_id do dono.</a:t>
            </a:r>
          </a:p>
          <a:p>
            <a:pPr>
              <a:spcAft>
                <a:spcPts val="1000"/>
              </a:spcAft>
              <a:defRPr sz="1700">
                <a:solidFill>
                  <a:srgbClr val="F7FAFF"/>
                </a:solidFill>
              </a:defRPr>
            </a:pPr>
            <a:r>
              <a:t>•  Visitantes assistem à simulação sem gravar dados; o botão Reiniciar apaga somente os dados da conta logada.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AB8D5"/>
                </a:solidFill>
              </a:defRPr>
            </a:pPr>
            <a:r>
              <a:t>ParkSim · Grupo 5 · Projeto de Banco de Dados — UNA Barreiro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B8D5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9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5 · Aplicação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9D98A"/>
                </a:solidFill>
              </a:defRPr>
            </a:pPr>
            <a:r>
              <a:t>Arquitetura da solução</a:t>
            </a:r>
          </a:p>
        </p:txBody>
      </p:sp>
      <p:pic>
        <p:nvPicPr>
          <p:cNvPr id="5" name="Picture 4" descr="arquite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10515600" cy="36400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i="1">
                <a:solidFill>
                  <a:srgbClr val="AAB8D5"/>
                </a:solidFill>
              </a:defRPr>
            </a:pPr>
            <a:r>
              <a:t>Front-end estático no GitHub Pages consome o Supabase: Auth (sessão JWT), API PostgREST com políticas RLS por conta e PostgreSQL com tabelas, FKs, TRIGGER e índices.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AB8D5"/>
                </a:solidFill>
              </a:defRPr>
            </a:pPr>
            <a:r>
              <a:t>ParkSim · Grupo 5 · Projeto de Banco de Dados — UNA Barreiro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B8D5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9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5 · Segurança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9D98A"/>
                </a:solidFill>
              </a:defRPr>
            </a:pPr>
            <a:r>
              <a:t>Segurança e persistência dos dados por conta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270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7FAFF"/>
                </a:solidFill>
              </a:defRPr>
            </a:pPr>
            <a:r>
              <a:t>•  Autenticação: Supabase Auth com sessão JWT; a conta logada é identificada por auth.uid().</a:t>
            </a:r>
          </a:p>
          <a:p>
            <a:pPr>
              <a:spcAft>
                <a:spcPts val="1000"/>
              </a:spcAft>
              <a:defRPr sz="1700">
                <a:solidFill>
                  <a:srgbClr val="F7FAFF"/>
                </a:solidFill>
              </a:defRPr>
            </a:pPr>
            <a:r>
              <a:t>•  Row Level Security: políticas de SELECT, INSERT, UPDATE e DELETE filtram por user_id = auth.uid() — uma conta nunca enxerga ou altera dados de outra.</a:t>
            </a:r>
          </a:p>
          <a:p>
            <a:pPr>
              <a:spcAft>
                <a:spcPts val="1000"/>
              </a:spcAft>
              <a:defRPr sz="1700">
                <a:solidFill>
                  <a:srgbClr val="F7FAFF"/>
                </a:solidFill>
              </a:defRPr>
            </a:pPr>
            <a:r>
              <a:t>•  Migração física não destrutiva: ALTER TABLE ... ADD COLUMN IF NOT EXISTS user_id + CREATE INDEX + troca das políticas (executada com sucesso no SQL Editor do Supabase).</a:t>
            </a:r>
          </a:p>
          <a:p>
            <a:pPr>
              <a:spcAft>
                <a:spcPts val="1000"/>
              </a:spcAft>
              <a:defRPr sz="1700">
                <a:solidFill>
                  <a:srgbClr val="F7FAFF"/>
                </a:solidFill>
              </a:defRPr>
            </a:pPr>
            <a:r>
              <a:t>•  Correção de comportamento: antes, recarregar a página apagava o banco inteiro; agora nada é apagado no carregamento e o histórico pertence à conta.</a:t>
            </a:r>
          </a:p>
          <a:p>
            <a:pPr>
              <a:spcAft>
                <a:spcPts val="1000"/>
              </a:spcAft>
              <a:defRPr sz="1700">
                <a:solidFill>
                  <a:srgbClr val="F7FAFF"/>
                </a:solidFill>
              </a:defRPr>
            </a:pPr>
            <a:r>
              <a:t>•  Chave anon (publishable) apenas no front-end: toda proteção real fica nas políticas RLS do banco.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AB8D5"/>
                </a:solidFill>
              </a:defRPr>
            </a:pPr>
            <a:r>
              <a:t>ParkSim · Grupo 5 · Projeto de Banco de Dados — UNA Barreiro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B8D5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9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6 · Conclusão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9D98A"/>
                </a:solidFill>
              </a:defRPr>
            </a:pPr>
            <a:r>
              <a:t>Conceitos de Banco de Dados aplicados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270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7FAFF"/>
                </a:solidFill>
              </a:defRPr>
            </a:pPr>
            <a:r>
              <a:t>•  Modelagem relacional: 6 tabelas normalizadas até a 3FN, ligadas por chaves estrangeiras;</a:t>
            </a:r>
          </a:p>
          <a:p>
            <a:pPr>
              <a:spcAft>
                <a:spcPts val="1000"/>
              </a:spcAft>
              <a:defRPr sz="1700">
                <a:solidFill>
                  <a:srgbClr val="F7FAFF"/>
                </a:solidFill>
              </a:defRPr>
            </a:pPr>
            <a:r>
              <a:t>•  INSERT: criação de veículo (se a placa não existir) e da movimentação de entrada;</a:t>
            </a:r>
          </a:p>
          <a:p>
            <a:pPr>
              <a:spcAft>
                <a:spcPts val="1000"/>
              </a:spcAft>
              <a:defRPr sz="1700">
                <a:solidFill>
                  <a:srgbClr val="F7FAFF"/>
                </a:solidFill>
              </a:defRPr>
            </a:pPr>
            <a:r>
              <a:t>•  UPDATE + TRIGGER: regra de negócio de cobrança executada dentro do banco;</a:t>
            </a:r>
          </a:p>
          <a:p>
            <a:pPr>
              <a:spcAft>
                <a:spcPts val="1000"/>
              </a:spcAft>
              <a:defRPr sz="1700">
                <a:solidFill>
                  <a:srgbClr val="F7FAFF"/>
                </a:solidFill>
              </a:defRPr>
            </a:pPr>
            <a:r>
              <a:t>•  SELECT com JOIN e agregações (COUNT, SUM, AVG, GROUP BY) nos relatórios e no PDF;</a:t>
            </a:r>
          </a:p>
          <a:p>
            <a:pPr>
              <a:spcAft>
                <a:spcPts val="1000"/>
              </a:spcAft>
              <a:defRPr sz="1700">
                <a:solidFill>
                  <a:srgbClr val="F7FAFF"/>
                </a:solidFill>
              </a:defRPr>
            </a:pPr>
            <a:r>
              <a:t>•  DELETE com ON DELETE CASCADE no ciclo de vida dos dados da conta;</a:t>
            </a:r>
          </a:p>
          <a:p>
            <a:pPr>
              <a:spcAft>
                <a:spcPts val="1000"/>
              </a:spcAft>
              <a:defRPr sz="1700">
                <a:solidFill>
                  <a:srgbClr val="F7FAFF"/>
                </a:solidFill>
              </a:defRPr>
            </a:pPr>
            <a:r>
              <a:t>•  DDL completo (CREATE/ALTER TABLE, índices, trigger, políticas RLS) + DML + DQL em script .sql executável;</a:t>
            </a:r>
          </a:p>
          <a:p>
            <a:pPr>
              <a:spcAft>
                <a:spcPts val="1000"/>
              </a:spcAft>
              <a:defRPr sz="1700">
                <a:solidFill>
                  <a:srgbClr val="F7FAFF"/>
                </a:solidFill>
              </a:defRPr>
            </a:pPr>
            <a:r>
              <a:t>•  Segurança e nuvem: Auth + RLS por conta e persistência real no PostgreSQL/Supabase.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AB8D5"/>
                </a:solidFill>
              </a:defRPr>
            </a:pPr>
            <a:r>
              <a:t>ParkSim · Grupo 5 · Projeto de Banco de Dados — UNA Barreiro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B8D5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9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Encerramento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9D98A"/>
                </a:solidFill>
              </a:defRPr>
            </a:pPr>
            <a:r>
              <a:t>Obrigado! Perguntas?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554480"/>
          <a:ext cx="1118311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2926080"/>
                <a:gridCol w="2770632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052012"/>
                          </a:solidFill>
                        </a:defRPr>
                      </a:pPr>
                      <a:r>
                        <a:t>Integrante do Grupo 5</a:t>
                      </a:r>
                    </a:p>
                  </a:txBody>
                  <a:tcPr>
                    <a:solidFill>
                      <a:srgbClr val="39D9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052012"/>
                          </a:solidFill>
                        </a:defRPr>
                      </a:pPr>
                    </a:p>
                  </a:txBody>
                  <a:tcPr>
                    <a:solidFill>
                      <a:srgbClr val="39D9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052012"/>
                          </a:solidFill>
                        </a:defRPr>
                      </a:pPr>
                      <a:r>
                        <a:t>RA</a:t>
                      </a:r>
                    </a:p>
                  </a:txBody>
                  <a:tcPr>
                    <a:solidFill>
                      <a:srgbClr val="39D98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F7FAFF"/>
                          </a:solidFill>
                        </a:defRPr>
                      </a:pPr>
                      <a:r>
                        <a:t>João Vitor Alves Rodrigues</a:t>
                      </a:r>
                    </a:p>
                  </a:txBody>
                  <a:tcPr>
                    <a:solidFill>
                      <a:srgbClr val="0A14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F7FAFF"/>
                          </a:solidFill>
                        </a:defRPr>
                      </a:pPr>
                    </a:p>
                  </a:txBody>
                  <a:tcPr>
                    <a:solidFill>
                      <a:srgbClr val="0A14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F7FAFF"/>
                          </a:solidFill>
                        </a:defRPr>
                      </a:pPr>
                      <a:r>
                        <a:t>32513480</a:t>
                      </a:r>
                    </a:p>
                  </a:txBody>
                  <a:tcPr>
                    <a:solidFill>
                      <a:srgbClr val="0A14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F7FAFF"/>
                          </a:solidFill>
                        </a:defRPr>
                      </a:pPr>
                      <a:r>
                        <a:t>Rafael Luiz Ferreira de Souza</a:t>
                      </a:r>
                    </a:p>
                  </a:txBody>
                  <a:tcPr>
                    <a:solidFill>
                      <a:srgbClr val="0D18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F7FAFF"/>
                          </a:solidFill>
                        </a:defRPr>
                      </a:pPr>
                    </a:p>
                  </a:txBody>
                  <a:tcPr>
                    <a:solidFill>
                      <a:srgbClr val="0D18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F7FAFF"/>
                          </a:solidFill>
                        </a:defRPr>
                      </a:pPr>
                      <a:r>
                        <a:t>32511503</a:t>
                      </a:r>
                    </a:p>
                  </a:txBody>
                  <a:tcPr>
                    <a:solidFill>
                      <a:srgbClr val="0D18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F7FAFF"/>
                          </a:solidFill>
                        </a:defRPr>
                      </a:pPr>
                      <a:r>
                        <a:t>Pietro Cardoso de Oliveira</a:t>
                      </a:r>
                    </a:p>
                  </a:txBody>
                  <a:tcPr>
                    <a:solidFill>
                      <a:srgbClr val="0A14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F7FAFF"/>
                          </a:solidFill>
                        </a:defRPr>
                      </a:pPr>
                    </a:p>
                  </a:txBody>
                  <a:tcPr>
                    <a:solidFill>
                      <a:srgbClr val="0A14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F7FAFF"/>
                          </a:solidFill>
                        </a:defRPr>
                      </a:pPr>
                      <a:r>
                        <a:t>32515280</a:t>
                      </a:r>
                    </a:p>
                  </a:txBody>
                  <a:tcPr>
                    <a:solidFill>
                      <a:srgbClr val="0A14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F7FAFF"/>
                          </a:solidFill>
                        </a:defRPr>
                      </a:pPr>
                      <a:r>
                        <a:t>Gustavo Henrique Ramos</a:t>
                      </a:r>
                    </a:p>
                  </a:txBody>
                  <a:tcPr>
                    <a:solidFill>
                      <a:srgbClr val="0D18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F7FAFF"/>
                          </a:solidFill>
                        </a:defRPr>
                      </a:pPr>
                    </a:p>
                  </a:txBody>
                  <a:tcPr>
                    <a:solidFill>
                      <a:srgbClr val="0D18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F7FAFF"/>
                          </a:solidFill>
                        </a:defRPr>
                      </a:pPr>
                      <a:r>
                        <a:t>325141430</a:t>
                      </a:r>
                    </a:p>
                  </a:txBody>
                  <a:tcPr>
                    <a:solidFill>
                      <a:srgbClr val="0D18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F7FAFF"/>
                          </a:solidFill>
                        </a:defRPr>
                      </a:pPr>
                      <a:r>
                        <a:t>Pedro Henrique Martins</a:t>
                      </a:r>
                    </a:p>
                  </a:txBody>
                  <a:tcPr>
                    <a:solidFill>
                      <a:srgbClr val="0A14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F7FAFF"/>
                          </a:solidFill>
                        </a:defRPr>
                      </a:pPr>
                    </a:p>
                  </a:txBody>
                  <a:tcPr>
                    <a:solidFill>
                      <a:srgbClr val="0A14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F7FAFF"/>
                          </a:solidFill>
                        </a:defRPr>
                      </a:pPr>
                      <a:r>
                        <a:t>325130235</a:t>
                      </a:r>
                    </a:p>
                  </a:txBody>
                  <a:tcPr>
                    <a:solidFill>
                      <a:srgbClr val="0A142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57200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8BDF8"/>
                </a:solidFill>
              </a:defRPr>
            </a:pPr>
            <a:r>
              <a:t>Site: https://lebot007.github.io/a3controlecarros/   ·   Repositório: github.com/Lebot007/a3controlecarros</a:t>
            </a:r>
          </a:p>
          <a:p>
            <a:pPr>
              <a:defRPr sz="1400">
                <a:solidFill>
                  <a:srgbClr val="AAB8D5"/>
                </a:solidFill>
              </a:defRPr>
            </a:pPr>
            <a:r>
              <a:t>Entregas: documento de projeto (DOCX, com os diagramas), apresentação (PPTX) e script .sql único (DDL + DML + DQL) executável no Supabase.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AB8D5"/>
                </a:solidFill>
              </a:defRPr>
            </a:pPr>
            <a:r>
              <a:t>ParkSim · Grupo 5 · Projeto de Banco de Dados — UNA Barreiro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B8D5"/>
                </a:solidFill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